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84048"/>
            <a:ext cx="146304" cy="146304"/>
          </a:xfrm>
          <a:prstGeom prst="ellipse">
            <a:avLst/>
          </a:prstGeom>
          <a:solidFill>
            <a:srgbClr val="A37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92608"/>
            <a:ext cx="45720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6EDF3"/>
                </a:solidFill>
                <a:latin typeface="Consolas"/>
              </a:rPr>
              <a:t>agentic-prover</a:t>
            </a:r>
            <a:r>
              <a:rPr sz="1300" b="0">
                <a:solidFill>
                  <a:srgbClr val="8B949E"/>
                </a:solidFill>
                <a:latin typeface="Consolas"/>
              </a:rPr>
              <a:t>   ·  agentic model checking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7863840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E6EDF3"/>
                </a:solidFill>
                <a:latin typeface="Calibri"/>
              </a:rPr>
              <a:t>Who verifies the code </a:t>
            </a:r>
            <a:r>
              <a:rPr sz="1400" b="0">
                <a:solidFill>
                  <a:srgbClr val="E6EDF3"/>
                </a:solidFill>
                <a:latin typeface="Calibri"/>
              </a:rPr>
              <a:t>
</a:t>
            </a:r>
            <a:r>
              <a:rPr sz="3800" b="1">
                <a:solidFill>
                  <a:srgbClr val="58A6FF"/>
                </a:solidFill>
                <a:latin typeface="Calibri"/>
              </a:rPr>
              <a:t>the AI just wrote?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993392"/>
            <a:ext cx="78638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B949E"/>
                </a:solidFill>
                <a:latin typeface="Calibri"/>
              </a:rPr>
              <a:t>LLM-synthesized specs  </a:t>
            </a:r>
            <a:r>
              <a:rPr sz="1400" b="1">
                <a:solidFill>
                  <a:srgbClr val="A371F7"/>
                </a:solidFill>
                <a:latin typeface="Calibri"/>
              </a:rPr>
              <a:t>×</a:t>
            </a:r>
            <a:r>
              <a:rPr sz="1400" b="0">
                <a:solidFill>
                  <a:srgbClr val="8B949E"/>
                </a:solidFill>
                <a:latin typeface="Calibri"/>
              </a:rPr>
              <a:t>  bounded model checking  </a:t>
            </a:r>
            <a:r>
              <a:rPr sz="1400" b="1">
                <a:solidFill>
                  <a:srgbClr val="A371F7"/>
                </a:solidFill>
                <a:latin typeface="Calibri"/>
              </a:rPr>
              <a:t>×</a:t>
            </a:r>
            <a:r>
              <a:rPr sz="1400" b="0">
                <a:solidFill>
                  <a:srgbClr val="8B949E"/>
                </a:solidFill>
                <a:latin typeface="Calibri"/>
              </a:rPr>
              <a:t>  CEGAR refinement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542032"/>
            <a:ext cx="2212848" cy="1078992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A371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2651760"/>
            <a:ext cx="193852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A371F7"/>
                </a:solidFill>
                <a:latin typeface="Consolas"/>
              </a:rPr>
              <a:t>✦  </a:t>
            </a:r>
            <a:r>
              <a:rPr sz="1050" b="0">
                <a:solidFill>
                  <a:srgbClr val="8B949E"/>
                </a:solidFill>
                <a:latin typeface="Consolas"/>
              </a:rPr>
              <a:t>01 · synthesize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962656"/>
            <a:ext cx="1938528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E6EDF3"/>
                </a:solidFill>
                <a:latin typeface="Calibri"/>
              </a:rPr>
              <a:t>LLM spec synthesis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3291839"/>
            <a:ext cx="193852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B949E"/>
                </a:solidFill>
                <a:latin typeface="Calibri"/>
              </a:rPr>
              <a:t>pre / post-conditions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2542032"/>
            <a:ext cx="2212848" cy="1078992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82112" y="2651760"/>
            <a:ext cx="193852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58A6FF"/>
                </a:solidFill>
                <a:latin typeface="Consolas"/>
              </a:rPr>
              <a:t>⚙  </a:t>
            </a:r>
            <a:r>
              <a:rPr sz="1050" b="0">
                <a:solidFill>
                  <a:srgbClr val="8B949E"/>
                </a:solidFill>
                <a:latin typeface="Consolas"/>
              </a:rPr>
              <a:t>02 ·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82112" y="2962656"/>
            <a:ext cx="1938528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E6EDF3"/>
                </a:solidFill>
                <a:latin typeface="Calibri"/>
              </a:rPr>
              <a:t>Bounded model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82112" y="3291839"/>
            <a:ext cx="193852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B949E"/>
                </a:solidFill>
                <a:latin typeface="Calibri"/>
              </a:rPr>
              <a:t>CBMC · Kani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32120" y="2542032"/>
            <a:ext cx="2212848" cy="1078992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96712" y="2651760"/>
            <a:ext cx="193852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3FB950"/>
                </a:solidFill>
                <a:latin typeface="Consolas"/>
              </a:rPr>
              <a:t>⚖  </a:t>
            </a:r>
            <a:r>
              <a:rPr sz="1050" b="0">
                <a:solidFill>
                  <a:srgbClr val="8B949E"/>
                </a:solidFill>
                <a:latin typeface="Consolas"/>
              </a:rPr>
              <a:t>03 · classify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96712" y="2962656"/>
            <a:ext cx="1938528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E6EDF3"/>
                </a:solidFill>
                <a:latin typeface="Calibri"/>
              </a:rPr>
              <a:t>Classify counterexample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96712" y="3291839"/>
            <a:ext cx="193852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B949E"/>
                </a:solidFill>
                <a:latin typeface="Calibri"/>
              </a:rPr>
              <a:t>real bug vs false alarm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734056" y="2980944"/>
            <a:ext cx="265176" cy="201168"/>
          </a:xfrm>
          <a:prstGeom prst="rightArrow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5248655" y="2980944"/>
            <a:ext cx="265176" cy="201168"/>
          </a:xfrm>
          <a:prstGeom prst="rightArrow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675887"/>
            <a:ext cx="724204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29922"/>
                </a:solidFill>
                <a:latin typeface="Calibri"/>
              </a:rPr>
              <a:t>↻  CEGAR — refine the spec &amp; re-check until the verdict is solid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224528"/>
            <a:ext cx="75895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6EDF3"/>
                </a:solidFill>
                <a:latin typeface="Calibri"/>
              </a:rPr>
              <a:t>You can’t check it part-by-part — </a:t>
            </a:r>
            <a:r>
              <a:rPr sz="1400" b="0">
                <a:solidFill>
                  <a:srgbClr val="8B949E"/>
                </a:solidFill>
                <a:latin typeface="Calibri"/>
              </a:rPr>
              <a:t>the bug threads through the composition: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608576"/>
            <a:ext cx="1330452" cy="384048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608576"/>
            <a:ext cx="1330452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E6EDF3"/>
                </a:solidFill>
                <a:latin typeface="Consolas"/>
              </a:rPr>
              <a:t>parse_chunk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33372" y="4608576"/>
            <a:ext cx="310896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8B949E"/>
                </a:solidFill>
                <a:latin typeface="Calibr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44268" y="4608576"/>
            <a:ext cx="1042415" cy="384048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44268" y="4608576"/>
            <a:ext cx="1042415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E6EDF3"/>
                </a:solidFill>
                <a:latin typeface="Consolas"/>
              </a:rPr>
              <a:t>read_tag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86683" y="4608576"/>
            <a:ext cx="310896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8B949E"/>
                </a:solidFill>
                <a:latin typeface="Calibr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97579" y="4608576"/>
            <a:ext cx="1042415" cy="384048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97579" y="4608576"/>
            <a:ext cx="1042415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85149"/>
                </a:solidFill>
                <a:latin typeface="Consolas"/>
              </a:rPr>
              <a:t>buf[idx]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120640"/>
            <a:ext cx="75895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8B949E"/>
                </a:solidFill>
                <a:latin typeface="Consolas"/>
              </a:rPr>
              <a:t>spec </a:t>
            </a:r>
            <a:r>
              <a:rPr sz="1150" b="1">
                <a:solidFill>
                  <a:srgbClr val="E6EDF3"/>
                </a:solidFill>
                <a:latin typeface="Consolas"/>
              </a:rPr>
              <a:t>idx &lt; len</a:t>
            </a:r>
            <a:r>
              <a:rPr sz="1150" b="0">
                <a:solidFill>
                  <a:srgbClr val="8B949E"/>
                </a:solidFill>
                <a:latin typeface="Consolas"/>
              </a:rPr>
              <a:t> violated  ·  </a:t>
            </a:r>
            <a:r>
              <a:rPr sz="1150" b="1">
                <a:solidFill>
                  <a:srgbClr val="E6EDF3"/>
                </a:solidFill>
                <a:latin typeface="Consolas"/>
              </a:rPr>
              <a:t>len=8, idx=12</a:t>
            </a:r>
            <a:r>
              <a:rPr sz="1150" b="0">
                <a:solidFill>
                  <a:srgbClr val="8B949E"/>
                </a:solidFill>
                <a:latin typeface="Consolas"/>
              </a:rPr>
              <a:t>  ·  replayed under ASan → </a:t>
            </a:r>
            <a:r>
              <a:rPr sz="1150" b="1">
                <a:solidFill>
                  <a:srgbClr val="F85149"/>
                </a:solidFill>
                <a:latin typeface="Consolas"/>
              </a:rPr>
              <a:t>SEGV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870448"/>
            <a:ext cx="1933041" cy="384048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30936" y="6007608"/>
            <a:ext cx="109728" cy="109728"/>
          </a:xfrm>
          <a:prstGeom prst="ellipse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816" y="5870448"/>
            <a:ext cx="1567281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6EDF3"/>
                </a:solidFill>
                <a:latin typeface="Consolas"/>
              </a:rPr>
              <a:t>confirmed_dynamic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00553" y="5870448"/>
            <a:ext cx="2353665" cy="384048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728569" y="6007608"/>
            <a:ext cx="109728" cy="109728"/>
          </a:xfrm>
          <a:prstGeom prst="ellipse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11449" y="5870448"/>
            <a:ext cx="1987905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6EDF3"/>
                </a:solidFill>
                <a:latin typeface="Consolas"/>
              </a:rPr>
              <a:t>confirmed_system_entry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118811" y="5870448"/>
            <a:ext cx="1596542" cy="384048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246827" y="6007608"/>
            <a:ext cx="109728" cy="109728"/>
          </a:xfrm>
          <a:prstGeom prst="ellipse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29707" y="5870448"/>
            <a:ext cx="1230782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6EDF3"/>
                </a:solidFill>
                <a:latin typeface="Consolas"/>
              </a:rPr>
              <a:t>confirmed_bmc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0456" y="2340864"/>
            <a:ext cx="3520440" cy="2339149"/>
          </a:xfrm>
          <a:prstGeom prst="roundRect">
            <a:avLst/>
          </a:prstGeom>
          <a:solidFill>
            <a:srgbClr val="05070B"/>
          </a:solidFill>
          <a:ln w="1587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275320" y="2395728"/>
            <a:ext cx="3410712" cy="274320"/>
          </a:xfrm>
          <a:prstGeom prst="roundRect">
            <a:avLst/>
          </a:prstGeom>
          <a:solidFill>
            <a:srgbClr val="1C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403336" y="2487168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567928" y="2487168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732520" y="2487168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51976" y="2395728"/>
            <a:ext cx="2130552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B949E"/>
                </a:solidFill>
                <a:latin typeface="Consolas"/>
              </a:rPr>
              <a:t>bmc-agent demo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80192" y="2395728"/>
            <a:ext cx="9144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3FB950"/>
                </a:solidFill>
                <a:latin typeface="Calibri"/>
              </a:rPr>
              <a:t>● looping</a:t>
            </a:r>
          </a:p>
        </p:txBody>
      </p:sp>
      <p:pic>
        <p:nvPicPr>
          <p:cNvPr id="47" name="bmc-agent-demo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275320" y="2670048"/>
            <a:ext cx="3410712" cy="1918525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8275320" y="4643437"/>
            <a:ext cx="3410712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A6573"/>
                </a:solidFill>
                <a:latin typeface="Calibri"/>
              </a:rPr>
              <a:t>▶ Embedded video — plays in slideshow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0456" y="5870448"/>
            <a:ext cx="35204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E6EDF3"/>
                </a:solidFill>
                <a:latin typeface="Calibri"/>
              </a:rPr>
              <a:t>bugs confirmed, not guessed.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7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