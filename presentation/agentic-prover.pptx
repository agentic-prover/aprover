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57200"/>
            <a:ext cx="164592" cy="164592"/>
          </a:xfrm>
          <a:prstGeom prst="ellipse">
            <a:avLst/>
          </a:prstGeom>
          <a:solidFill>
            <a:srgbClr val="A37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6576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6EDF3"/>
                </a:solidFill>
                <a:latin typeface="Consolas"/>
              </a:rPr>
              <a:t>AProver</a:t>
            </a:r>
            <a:r>
              <a:rPr sz="1300" b="0">
                <a:solidFill>
                  <a:srgbClr val="8B949E"/>
                </a:solidFill>
                <a:latin typeface="Consolas"/>
              </a:rPr>
              <a:t>   ·  agentic prover for AI-generated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257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E6EDF3"/>
                </a:solidFill>
                <a:latin typeface="Calibri"/>
              </a:rPr>
              <a:t>AI writes the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5257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E6EDF3"/>
                </a:solidFill>
                <a:latin typeface="Calibri"/>
              </a:rPr>
              <a:t>AProver proves it </a:t>
            </a:r>
            <a:r>
              <a:rPr sz="2900" b="1">
                <a:solidFill>
                  <a:srgbClr val="58A6FF"/>
                </a:solidFill>
                <a:latin typeface="Calibri"/>
              </a:rPr>
              <a:t>correct.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525780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A371F7"/>
                </a:solidFill>
                <a:latin typeface="Calibri"/>
              </a:rPr>
              <a:t>Agents propose</a:t>
            </a:r>
            <a:r>
              <a:rPr sz="1550" b="0">
                <a:solidFill>
                  <a:srgbClr val="8B949E"/>
                </a:solidFill>
                <a:latin typeface="Calibri"/>
              </a:rPr>
              <a:t> — specifications, counterexample verdicts, refinements.  </a:t>
            </a:r>
            <a:r>
              <a:rPr sz="1550" b="1">
                <a:solidFill>
                  <a:srgbClr val="58A6FF"/>
                </a:solidFill>
                <a:latin typeface="Calibri"/>
              </a:rPr>
              <a:t>Conventional tools dispose</a:t>
            </a:r>
            <a:r>
              <a:rPr sz="1550" b="0">
                <a:solidFill>
                  <a:srgbClr val="8B949E"/>
                </a:solidFill>
                <a:latin typeface="Calibri"/>
              </a:rPr>
              <a:t> — every soundness-relevant claim passes a formal check before it counts.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70832"/>
            <a:ext cx="5257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8B949E"/>
                </a:solidFill>
                <a:latin typeface="Calibri"/>
              </a:rPr>
              <a:t>Bugs are </a:t>
            </a:r>
            <a:r>
              <a:rPr sz="1550" b="1">
                <a:solidFill>
                  <a:srgbClr val="3FB950"/>
                </a:solidFill>
                <a:latin typeface="Calibri"/>
              </a:rPr>
              <a:t>confirmed, not guessed</a:t>
            </a:r>
            <a:r>
              <a:rPr sz="1550" b="0">
                <a:solidFill>
                  <a:srgbClr val="8B949E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" y="5020056"/>
            <a:ext cx="1527048" cy="1527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74920"/>
            <a:ext cx="1417320" cy="1417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76272" y="5111496"/>
            <a:ext cx="3611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B949E"/>
                </a:solidFill>
                <a:latin typeface="Consolas"/>
              </a:rPr>
              <a:t>EXPLORE THE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5385816"/>
            <a:ext cx="36118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58A6FF"/>
                </a:solidFill>
                <a:latin typeface="Consolas"/>
              </a:rPr>
              <a:t>github.com/agentic-prover/aprover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5788152"/>
            <a:ext cx="3611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8B949E"/>
                </a:solidFill>
                <a:latin typeface="Calibri"/>
              </a:rPr>
              <a:t>Paper · </a:t>
            </a:r>
            <a:r>
              <a:rPr sz="1150" b="0">
                <a:solidFill>
                  <a:srgbClr val="E6EDF3"/>
                </a:solidFill>
                <a:latin typeface="Calibri"/>
              </a:rPr>
              <a:t>Agentic Model Checking — arXiv:2605.21434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76272" y="6245352"/>
            <a:ext cx="3611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B949E"/>
                </a:solidFill>
                <a:latin typeface="Consolas"/>
              </a:rPr>
              <a:t>↗ scan to open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084832"/>
            <a:ext cx="5779007" cy="3599307"/>
          </a:xfrm>
          <a:prstGeom prst="roundRect">
            <a:avLst/>
          </a:prstGeom>
          <a:solidFill>
            <a:srgbClr val="05070B"/>
          </a:solidFill>
          <a:ln w="1778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53328" y="2148840"/>
            <a:ext cx="5650992" cy="292608"/>
          </a:xfrm>
          <a:prstGeom prst="roundRect">
            <a:avLst/>
          </a:prstGeom>
          <a:solidFill>
            <a:srgbClr val="1C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99632" y="2249424"/>
            <a:ext cx="100584" cy="10058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2249424"/>
            <a:ext cx="100584" cy="10058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47104" y="2249424"/>
            <a:ext cx="100584" cy="10058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2148840"/>
            <a:ext cx="418795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B949E"/>
                </a:solidFill>
                <a:latin typeface="Consolas"/>
              </a:rPr>
              <a:t>bmc-agent — verifying AI-generated software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2148840"/>
            <a:ext cx="100584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3FB950"/>
                </a:solidFill>
                <a:latin typeface="Calibri"/>
              </a:rPr>
              <a:t>● looping</a:t>
            </a:r>
          </a:p>
        </p:txBody>
      </p:sp>
      <p:pic>
        <p:nvPicPr>
          <p:cNvPr id="21" name="bmc-agent-demo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053328" y="2441448"/>
            <a:ext cx="5650992" cy="317868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53328" y="5729859"/>
            <a:ext cx="565099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A6573"/>
                </a:solidFill>
                <a:latin typeface="Calibri"/>
              </a:rPr>
              <a:t>▶  embedded — plays in the slideshow   ·   the rest of the story is in the video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1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